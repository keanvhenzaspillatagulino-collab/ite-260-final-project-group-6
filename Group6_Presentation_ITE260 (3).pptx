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5" Type="http://schemas.openxmlformats.org/officeDocument/2006/relationships/slide" Target="slides/slide4.xml" /><Relationship Id="rId1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F71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1005840"/>
            <a:ext cx="10149840" cy="1371600"/>
          </a:xfrm>
          <a:prstGeom prst="rect">
            <a:avLst/>
          </a:prstGeom>
          <a:noFill/>
        </p:spPr>
        <p:txBody>
          <a:bodyPr wrap="square" anchor="ctr">
            <a:spAutoFit/>
          </a:bodyPr>
          <a:lstStyle/>
          <a:p>
            <a:pPr algn="ctr">
              <a:spcAft>
                <a:spcPts val="500"/>
              </a:spcAft>
              <a:defRPr sz="3400" b="1">
                <a:solidFill>
                  <a:srgbClr val="1A2D52"/>
                </a:solidFill>
                <a:latin typeface="Aptos"/>
              </a:defRPr>
            </a:pPr>
            <a:r>
              <a:t>ROCK, PAPER,</a:t>
            </a:r>
          </a:p>
          <a:p>
            <a:pPr algn="ctr">
              <a:spcAft>
                <a:spcPts val="500"/>
              </a:spcAft>
              <a:defRPr sz="3400" b="1">
                <a:solidFill>
                  <a:srgbClr val="1A2D52"/>
                </a:solidFill>
                <a:latin typeface="Aptos"/>
              </a:defRPr>
            </a:pPr>
            <a:r>
              <a:t>AND SCISSORS</a:t>
            </a:r>
          </a:p>
        </p:txBody>
      </p:sp>
      <p:sp>
        <p:nvSpPr>
          <p:cNvPr id="4" name="TextBox 3"/>
          <p:cNvSpPr txBox="1"/>
          <p:nvPr/>
        </p:nvSpPr>
        <p:spPr>
          <a:xfrm>
            <a:off x="1828800" y="2423160"/>
            <a:ext cx="8503920" cy="411480"/>
          </a:xfrm>
          <a:prstGeom prst="rect">
            <a:avLst/>
          </a:prstGeom>
          <a:noFill/>
        </p:spPr>
        <p:txBody>
          <a:bodyPr wrap="square" anchor="ctr">
            <a:spAutoFit/>
          </a:bodyPr>
          <a:lstStyle/>
          <a:p>
            <a:pPr algn="ctr">
              <a:spcAft>
                <a:spcPts val="500"/>
              </a:spcAft>
              <a:defRPr sz="2000" b="0">
                <a:solidFill>
                  <a:srgbClr val="646C78"/>
                </a:solidFill>
                <a:latin typeface="Aptos"/>
              </a:defRPr>
            </a:pPr>
            <a:r>
              <a:t>A Mini Project Presentation</a:t>
            </a:r>
          </a:p>
        </p:txBody>
      </p:sp>
      <p:sp>
        <p:nvSpPr>
          <p:cNvPr id="5" name="TextBox 4"/>
          <p:cNvSpPr txBox="1"/>
          <p:nvPr/>
        </p:nvSpPr>
        <p:spPr>
          <a:xfrm>
            <a:off x="1920240" y="2971800"/>
            <a:ext cx="8321040" cy="1417320"/>
          </a:xfrm>
          <a:prstGeom prst="rect">
            <a:avLst/>
          </a:prstGeom>
          <a:noFill/>
        </p:spPr>
        <p:txBody>
          <a:bodyPr wrap="square" anchor="ctr">
            <a:spAutoFit/>
          </a:bodyPr>
          <a:lstStyle/>
          <a:p>
            <a:pPr algn="ctr">
              <a:spcAft>
                <a:spcPts val="500"/>
              </a:spcAft>
              <a:defRPr sz="1600" b="0">
                <a:solidFill>
                  <a:srgbClr val="2A303A"/>
                </a:solidFill>
                <a:latin typeface="Aptos"/>
              </a:defRPr>
            </a:pPr>
            <a:r>
              <a:t>College of Information Technology Education</a:t>
            </a:r>
          </a:p>
          <a:p>
            <a:pPr algn="ctr">
              <a:spcAft>
                <a:spcPts val="500"/>
              </a:spcAft>
              <a:defRPr sz="1600" b="0">
                <a:solidFill>
                  <a:srgbClr val="2A303A"/>
                </a:solidFill>
                <a:latin typeface="Aptos"/>
              </a:defRPr>
            </a:pPr>
            <a:r>
              <a:t>PHINMA – University of Iloilo | Iloilo City</a:t>
            </a:r>
          </a:p>
          <a:p>
            <a:pPr algn="ctr">
              <a:spcAft>
                <a:spcPts val="500"/>
              </a:spcAft>
              <a:defRPr sz="1600" b="0">
                <a:solidFill>
                  <a:srgbClr val="2A303A"/>
                </a:solidFill>
                <a:latin typeface="Aptos"/>
              </a:defRPr>
            </a:pPr>
            <a:endParaRPr/>
          </a:p>
          <a:p>
            <a:pPr algn="ctr">
              <a:spcAft>
                <a:spcPts val="500"/>
              </a:spcAft>
              <a:defRPr sz="1600" b="0">
                <a:solidFill>
                  <a:srgbClr val="2A303A"/>
                </a:solidFill>
                <a:latin typeface="Aptos"/>
              </a:defRPr>
            </a:pPr>
            <a:r>
              <a:t>Bachelor of Science in Information Technology</a:t>
            </a:r>
          </a:p>
          <a:p>
            <a:pPr algn="ctr">
              <a:spcAft>
                <a:spcPts val="500"/>
              </a:spcAft>
              <a:defRPr sz="1600" b="0">
                <a:solidFill>
                  <a:srgbClr val="2A303A"/>
                </a:solidFill>
                <a:latin typeface="Aptos"/>
              </a:defRPr>
            </a:pPr>
            <a:r>
              <a:t>ITE 260 – Computer Programming 1</a:t>
            </a:r>
          </a:p>
        </p:txBody>
      </p:sp>
      <p:sp>
        <p:nvSpPr>
          <p:cNvPr id="6" name="TextBox 5"/>
          <p:cNvSpPr txBox="1"/>
          <p:nvPr/>
        </p:nvSpPr>
        <p:spPr>
          <a:xfrm>
            <a:off x="3840480" y="4572000"/>
            <a:ext cx="4480560" cy="320040"/>
          </a:xfrm>
          <a:prstGeom prst="rect">
            <a:avLst/>
          </a:prstGeom>
          <a:noFill/>
        </p:spPr>
        <p:txBody>
          <a:bodyPr wrap="square" anchor="ctr">
            <a:spAutoFit/>
          </a:bodyPr>
          <a:lstStyle/>
          <a:p>
            <a:pPr algn="ctr">
              <a:spcAft>
                <a:spcPts val="500"/>
              </a:spcAft>
              <a:defRPr sz="1300" b="1">
                <a:solidFill>
                  <a:srgbClr val="3F71BD"/>
                </a:solidFill>
                <a:latin typeface="Aptos"/>
              </a:defRPr>
            </a:pPr>
            <a:r>
              <a:t>GROUP MEMBERS</a:t>
            </a:r>
          </a:p>
        </p:txBody>
      </p:sp>
      <p:sp>
        <p:nvSpPr>
          <p:cNvPr id="7" name="TextBox 6"/>
          <p:cNvSpPr txBox="1"/>
          <p:nvPr/>
        </p:nvSpPr>
        <p:spPr>
          <a:xfrm>
            <a:off x="2834640" y="4892040"/>
            <a:ext cx="6492240" cy="1234440"/>
          </a:xfrm>
          <a:prstGeom prst="rect">
            <a:avLst/>
          </a:prstGeom>
          <a:noFill/>
        </p:spPr>
        <p:txBody>
          <a:bodyPr wrap="square" anchor="ctr">
            <a:spAutoFit/>
          </a:bodyPr>
          <a:lstStyle/>
          <a:p>
            <a:pPr algn="ctr">
              <a:spcAft>
                <a:spcPts val="500"/>
              </a:spcAft>
              <a:defRPr sz="1400" b="0">
                <a:solidFill>
                  <a:srgbClr val="2A303A"/>
                </a:solidFill>
                <a:latin typeface="Aptos"/>
              </a:defRPr>
            </a:pPr>
            <a:r>
              <a:t>Feliciano, Ashly Marañon</a:t>
            </a:r>
          </a:p>
          <a:p>
            <a:pPr algn="ctr">
              <a:spcAft>
                <a:spcPts val="500"/>
              </a:spcAft>
              <a:defRPr sz="1400" b="0">
                <a:solidFill>
                  <a:srgbClr val="2A303A"/>
                </a:solidFill>
                <a:latin typeface="Aptos"/>
              </a:defRPr>
            </a:pPr>
            <a:r>
              <a:t>Flaviano, Ariane Cabangal</a:t>
            </a:r>
          </a:p>
          <a:p>
            <a:pPr algn="ctr">
              <a:spcAft>
                <a:spcPts val="500"/>
              </a:spcAft>
              <a:defRPr sz="1400" b="0">
                <a:solidFill>
                  <a:srgbClr val="2A303A"/>
                </a:solidFill>
                <a:latin typeface="Aptos"/>
              </a:defRPr>
            </a:pPr>
            <a:r>
              <a:t>Sapeda, John Mirben Escala</a:t>
            </a:r>
          </a:p>
          <a:p>
            <a:pPr algn="ctr">
              <a:spcAft>
                <a:spcPts val="500"/>
              </a:spcAft>
              <a:defRPr sz="1400" b="0">
                <a:solidFill>
                  <a:srgbClr val="2A303A"/>
                </a:solidFill>
                <a:latin typeface="Aptos"/>
              </a:defRPr>
            </a:pPr>
            <a:r>
              <a:t>Tabuada, Gerald Jone Diza</a:t>
            </a:r>
          </a:p>
          <a:p>
            <a:pPr algn="ctr">
              <a:spcAft>
                <a:spcPts val="500"/>
              </a:spcAft>
              <a:defRPr sz="1400" b="0">
                <a:solidFill>
                  <a:srgbClr val="2A303A"/>
                </a:solidFill>
                <a:latin typeface="Aptos"/>
              </a:defRPr>
            </a:pPr>
            <a:r>
              <a:t>Tagulino, Kean Vhenz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48640"/>
          </a:xfrm>
          <a:prstGeom prst="rect">
            <a:avLst/>
          </a:prstGeom>
          <a:noFill/>
        </p:spPr>
        <p:txBody>
          <a:bodyPr wrap="square" anchor="ctr">
            <a:spAutoFit/>
          </a:bodyPr>
          <a:lstStyle/>
          <a:p>
            <a:pPr algn="l">
              <a:spcAft>
                <a:spcPts val="500"/>
              </a:spcAft>
              <a:defRPr sz="2800" b="1">
                <a:solidFill>
                  <a:srgbClr val="1A2D52"/>
                </a:solidFill>
                <a:latin typeface="Aptos"/>
              </a:defRPr>
            </a:pPr>
            <a:r>
              <a:t>DESCRIPTION</a:t>
            </a:r>
          </a:p>
        </p:txBody>
      </p:sp>
      <p:sp>
        <p:nvSpPr>
          <p:cNvPr id="3" name="Rectangle 2"/>
          <p:cNvSpPr/>
          <p:nvPr/>
        </p:nvSpPr>
        <p:spPr>
          <a:xfrm>
            <a:off x="621792" y="960120"/>
            <a:ext cx="1143000" cy="64008"/>
          </a:xfrm>
          <a:prstGeom prst="rect">
            <a:avLst/>
          </a:prstGeom>
          <a:solidFill>
            <a:srgbClr val="3F71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365760"/>
          </a:xfrm>
          <a:prstGeom prst="rect">
            <a:avLst/>
          </a:prstGeom>
          <a:noFill/>
        </p:spPr>
        <p:txBody>
          <a:bodyPr wrap="square" anchor="ctr">
            <a:spAutoFit/>
          </a:bodyPr>
          <a:lstStyle/>
          <a:p>
            <a:pPr algn="l">
              <a:spcAft>
                <a:spcPts val="500"/>
              </a:spcAft>
              <a:defRPr sz="1300" b="0">
                <a:solidFill>
                  <a:srgbClr val="646C78"/>
                </a:solidFill>
                <a:latin typeface="Aptos"/>
              </a:defRPr>
            </a:pPr>
            <a:r>
              <a:t>Introduction to the project</a:t>
            </a:r>
          </a:p>
        </p:txBody>
      </p:sp>
      <p:sp>
        <p:nvSpPr>
          <p:cNvPr id="5" name="TextBox 4"/>
          <p:cNvSpPr txBox="1"/>
          <p:nvPr/>
        </p:nvSpPr>
        <p:spPr>
          <a:xfrm>
            <a:off x="822960" y="1691640"/>
            <a:ext cx="10424160" cy="1234440"/>
          </a:xfrm>
          <a:prstGeom prst="rect">
            <a:avLst/>
          </a:prstGeom>
          <a:noFill/>
        </p:spPr>
        <p:txBody>
          <a:bodyPr wrap="square" anchor="ctr">
            <a:spAutoFit/>
          </a:bodyPr>
          <a:lstStyle/>
          <a:p>
            <a:pPr algn="l">
              <a:spcAft>
                <a:spcPts val="500"/>
              </a:spcAft>
              <a:defRPr sz="2200" b="0">
                <a:solidFill>
                  <a:srgbClr val="2A303A"/>
                </a:solidFill>
                <a:latin typeface="Aptos"/>
              </a:defRPr>
            </a:pPr>
            <a:r>
              <a:t>The Rock, Paper, Scissors Game is a simple text-based game developed using Python. The player chooses rock, paper, or scissors, while the computer randomly selects one of the three options. The program compares both choices and determines whether the player wins, loses, or ties.</a:t>
            </a:r>
          </a:p>
        </p:txBody>
      </p:sp>
      <p:sp>
        <p:nvSpPr>
          <p:cNvPr id="6" name="Rounded Rectangle 5"/>
          <p:cNvSpPr/>
          <p:nvPr/>
        </p:nvSpPr>
        <p:spPr>
          <a:xfrm>
            <a:off x="868680" y="3657600"/>
            <a:ext cx="3246120" cy="1234440"/>
          </a:xfrm>
          <a:prstGeom prst="roundRect">
            <a:avLst/>
          </a:prstGeom>
          <a:solidFill>
            <a:srgbClr val="E1EDFC"/>
          </a:solidFill>
          <a:ln>
            <a:solidFill>
              <a:srgbClr val="E1ED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3822191"/>
            <a:ext cx="2971800" cy="365760"/>
          </a:xfrm>
          <a:prstGeom prst="rect">
            <a:avLst/>
          </a:prstGeom>
          <a:noFill/>
        </p:spPr>
        <p:txBody>
          <a:bodyPr wrap="square" anchor="ctr">
            <a:spAutoFit/>
          </a:bodyPr>
          <a:lstStyle/>
          <a:p>
            <a:pPr algn="ctr">
              <a:spcAft>
                <a:spcPts val="500"/>
              </a:spcAft>
              <a:defRPr sz="2000" b="1">
                <a:solidFill>
                  <a:srgbClr val="1A2D52"/>
                </a:solidFill>
                <a:latin typeface="Aptos"/>
              </a:defRPr>
            </a:pPr>
            <a:r>
              <a:t>ROCK</a:t>
            </a:r>
          </a:p>
        </p:txBody>
      </p:sp>
      <p:sp>
        <p:nvSpPr>
          <p:cNvPr id="8" name="TextBox 7"/>
          <p:cNvSpPr txBox="1"/>
          <p:nvPr/>
        </p:nvSpPr>
        <p:spPr>
          <a:xfrm>
            <a:off x="1005839" y="4251960"/>
            <a:ext cx="2971800" cy="365760"/>
          </a:xfrm>
          <a:prstGeom prst="rect">
            <a:avLst/>
          </a:prstGeom>
          <a:noFill/>
        </p:spPr>
        <p:txBody>
          <a:bodyPr wrap="square" anchor="ctr">
            <a:spAutoFit/>
          </a:bodyPr>
          <a:lstStyle/>
          <a:p>
            <a:pPr algn="ctr">
              <a:spcAft>
                <a:spcPts val="500"/>
              </a:spcAft>
              <a:defRPr sz="1600" b="0">
                <a:solidFill>
                  <a:srgbClr val="2A303A"/>
                </a:solidFill>
                <a:latin typeface="Aptos"/>
              </a:defRPr>
            </a:pPr>
            <a:r>
              <a:t>Beats scissors</a:t>
            </a:r>
          </a:p>
        </p:txBody>
      </p:sp>
      <p:sp>
        <p:nvSpPr>
          <p:cNvPr id="9" name="Rounded Rectangle 8"/>
          <p:cNvSpPr/>
          <p:nvPr/>
        </p:nvSpPr>
        <p:spPr>
          <a:xfrm>
            <a:off x="4663440" y="3657600"/>
            <a:ext cx="3246120" cy="1234440"/>
          </a:xfrm>
          <a:prstGeom prst="roundRect">
            <a:avLst/>
          </a:prstGeom>
          <a:solidFill>
            <a:srgbClr val="E4D7FA"/>
          </a:solidFill>
          <a:ln>
            <a:solidFill>
              <a:srgbClr val="E4D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00600" y="3822191"/>
            <a:ext cx="2971800" cy="365760"/>
          </a:xfrm>
          <a:prstGeom prst="rect">
            <a:avLst/>
          </a:prstGeom>
          <a:noFill/>
        </p:spPr>
        <p:txBody>
          <a:bodyPr wrap="square" anchor="ctr">
            <a:spAutoFit/>
          </a:bodyPr>
          <a:lstStyle/>
          <a:p>
            <a:pPr algn="ctr">
              <a:spcAft>
                <a:spcPts val="500"/>
              </a:spcAft>
              <a:defRPr sz="2000" b="1">
                <a:solidFill>
                  <a:srgbClr val="1A2D52"/>
                </a:solidFill>
                <a:latin typeface="Aptos"/>
              </a:defRPr>
            </a:pPr>
            <a:r>
              <a:t>PAPER</a:t>
            </a:r>
          </a:p>
        </p:txBody>
      </p:sp>
      <p:sp>
        <p:nvSpPr>
          <p:cNvPr id="11" name="TextBox 10"/>
          <p:cNvSpPr txBox="1"/>
          <p:nvPr/>
        </p:nvSpPr>
        <p:spPr>
          <a:xfrm>
            <a:off x="4800600" y="4251960"/>
            <a:ext cx="2971800" cy="365760"/>
          </a:xfrm>
          <a:prstGeom prst="rect">
            <a:avLst/>
          </a:prstGeom>
          <a:noFill/>
        </p:spPr>
        <p:txBody>
          <a:bodyPr wrap="square" anchor="ctr">
            <a:spAutoFit/>
          </a:bodyPr>
          <a:lstStyle/>
          <a:p>
            <a:pPr algn="ctr">
              <a:spcAft>
                <a:spcPts val="500"/>
              </a:spcAft>
              <a:defRPr sz="1600" b="0">
                <a:solidFill>
                  <a:srgbClr val="2A303A"/>
                </a:solidFill>
                <a:latin typeface="Aptos"/>
              </a:defRPr>
            </a:pPr>
            <a:r>
              <a:t>Beats rock</a:t>
            </a:r>
          </a:p>
        </p:txBody>
      </p:sp>
      <p:sp>
        <p:nvSpPr>
          <p:cNvPr id="12" name="Rounded Rectangle 11"/>
          <p:cNvSpPr/>
          <p:nvPr/>
        </p:nvSpPr>
        <p:spPr>
          <a:xfrm>
            <a:off x="8458200" y="3657600"/>
            <a:ext cx="3246120" cy="1234440"/>
          </a:xfrm>
          <a:prstGeom prst="roundRect">
            <a:avLst/>
          </a:prstGeom>
          <a:solidFill>
            <a:srgbClr val="FFEEA6"/>
          </a:solidFill>
          <a:ln>
            <a:solidFill>
              <a:srgbClr val="FFE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0" y="3822191"/>
            <a:ext cx="2971800" cy="365760"/>
          </a:xfrm>
          <a:prstGeom prst="rect">
            <a:avLst/>
          </a:prstGeom>
          <a:noFill/>
        </p:spPr>
        <p:txBody>
          <a:bodyPr wrap="square" anchor="ctr">
            <a:spAutoFit/>
          </a:bodyPr>
          <a:lstStyle/>
          <a:p>
            <a:pPr algn="ctr">
              <a:spcAft>
                <a:spcPts val="500"/>
              </a:spcAft>
              <a:defRPr sz="2000" b="1">
                <a:solidFill>
                  <a:srgbClr val="1A2D52"/>
                </a:solidFill>
                <a:latin typeface="Aptos"/>
              </a:defRPr>
            </a:pPr>
            <a:r>
              <a:t>SCISSORS</a:t>
            </a:r>
          </a:p>
        </p:txBody>
      </p:sp>
      <p:sp>
        <p:nvSpPr>
          <p:cNvPr id="14" name="TextBox 13"/>
          <p:cNvSpPr txBox="1"/>
          <p:nvPr/>
        </p:nvSpPr>
        <p:spPr>
          <a:xfrm>
            <a:off x="8595360" y="4251960"/>
            <a:ext cx="2971800" cy="365760"/>
          </a:xfrm>
          <a:prstGeom prst="rect">
            <a:avLst/>
          </a:prstGeom>
          <a:noFill/>
        </p:spPr>
        <p:txBody>
          <a:bodyPr wrap="square" anchor="ctr">
            <a:spAutoFit/>
          </a:bodyPr>
          <a:lstStyle/>
          <a:p>
            <a:pPr algn="ctr">
              <a:spcAft>
                <a:spcPts val="500"/>
              </a:spcAft>
              <a:defRPr sz="1600" b="0">
                <a:solidFill>
                  <a:srgbClr val="2A303A"/>
                </a:solidFill>
                <a:latin typeface="Aptos"/>
              </a:defRPr>
            </a:pPr>
            <a:r>
              <a:t>Beats paper</a:t>
            </a:r>
          </a:p>
        </p:txBody>
      </p:sp>
      <p:sp>
        <p:nvSpPr>
          <p:cNvPr id="15" name="TextBox 14"/>
          <p:cNvSpPr txBox="1"/>
          <p:nvPr/>
        </p:nvSpPr>
        <p:spPr>
          <a:xfrm>
            <a:off x="914400" y="5394960"/>
            <a:ext cx="10332720" cy="594360"/>
          </a:xfrm>
          <a:prstGeom prst="rect">
            <a:avLst/>
          </a:prstGeom>
          <a:noFill/>
        </p:spPr>
        <p:txBody>
          <a:bodyPr wrap="square" anchor="ctr">
            <a:spAutoFit/>
          </a:bodyPr>
          <a:lstStyle/>
          <a:p>
            <a:pPr algn="ctr">
              <a:spcAft>
                <a:spcPts val="500"/>
              </a:spcAft>
              <a:defRPr sz="1700" b="0">
                <a:solidFill>
                  <a:srgbClr val="646C78"/>
                </a:solidFill>
                <a:latin typeface="Aptos"/>
              </a:defRPr>
            </a:pPr>
            <a:r>
              <a:t>If both choices are the same, the round ends in a tie. The player can replay or quit at any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48640"/>
          </a:xfrm>
          <a:prstGeom prst="rect">
            <a:avLst/>
          </a:prstGeom>
          <a:noFill/>
        </p:spPr>
        <p:txBody>
          <a:bodyPr wrap="square" anchor="ctr">
            <a:spAutoFit/>
          </a:bodyPr>
          <a:lstStyle/>
          <a:p>
            <a:pPr algn="l">
              <a:spcAft>
                <a:spcPts val="500"/>
              </a:spcAft>
              <a:defRPr sz="2800" b="1">
                <a:solidFill>
                  <a:srgbClr val="1A2D52"/>
                </a:solidFill>
                <a:latin typeface="Aptos"/>
              </a:defRPr>
            </a:pPr>
            <a:r>
              <a:t>OBJECTIVES</a:t>
            </a:r>
          </a:p>
        </p:txBody>
      </p:sp>
      <p:sp>
        <p:nvSpPr>
          <p:cNvPr id="3" name="Rectangle 2"/>
          <p:cNvSpPr/>
          <p:nvPr/>
        </p:nvSpPr>
        <p:spPr>
          <a:xfrm>
            <a:off x="621792" y="960120"/>
            <a:ext cx="1143000" cy="64008"/>
          </a:xfrm>
          <a:prstGeom prst="rect">
            <a:avLst/>
          </a:prstGeom>
          <a:solidFill>
            <a:srgbClr val="3F71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365760"/>
          </a:xfrm>
          <a:prstGeom prst="rect">
            <a:avLst/>
          </a:prstGeom>
          <a:noFill/>
        </p:spPr>
        <p:txBody>
          <a:bodyPr wrap="square" anchor="ctr">
            <a:spAutoFit/>
          </a:bodyPr>
          <a:lstStyle/>
          <a:p>
            <a:pPr algn="l">
              <a:spcAft>
                <a:spcPts val="500"/>
              </a:spcAft>
              <a:defRPr sz="1300" b="0">
                <a:solidFill>
                  <a:srgbClr val="646C78"/>
                </a:solidFill>
                <a:latin typeface="Aptos"/>
              </a:defRPr>
            </a:pPr>
            <a:r>
              <a:t>What the project aims to achieve</a:t>
            </a:r>
          </a:p>
        </p:txBody>
      </p:sp>
      <p:sp>
        <p:nvSpPr>
          <p:cNvPr id="5" name="TextBox 4"/>
          <p:cNvSpPr txBox="1"/>
          <p:nvPr/>
        </p:nvSpPr>
        <p:spPr>
          <a:xfrm>
            <a:off x="822960" y="1600200"/>
            <a:ext cx="4846320" cy="411480"/>
          </a:xfrm>
          <a:prstGeom prst="rect">
            <a:avLst/>
          </a:prstGeom>
          <a:noFill/>
        </p:spPr>
        <p:txBody>
          <a:bodyPr wrap="square" anchor="ctr">
            <a:spAutoFit/>
          </a:bodyPr>
          <a:lstStyle/>
          <a:p>
            <a:pPr algn="l">
              <a:spcAft>
                <a:spcPts val="500"/>
              </a:spcAft>
              <a:defRPr sz="1700" b="1">
                <a:solidFill>
                  <a:srgbClr val="3F71BD"/>
                </a:solidFill>
                <a:latin typeface="Aptos"/>
              </a:defRPr>
            </a:pPr>
            <a:r>
              <a:t>GENERAL OBJECTIVE</a:t>
            </a:r>
          </a:p>
        </p:txBody>
      </p:sp>
      <p:sp>
        <p:nvSpPr>
          <p:cNvPr id="6" name="TextBox 5"/>
          <p:cNvSpPr txBox="1"/>
          <p:nvPr/>
        </p:nvSpPr>
        <p:spPr>
          <a:xfrm>
            <a:off x="822960" y="2011680"/>
            <a:ext cx="10149840" cy="640080"/>
          </a:xfrm>
          <a:prstGeom prst="rect">
            <a:avLst/>
          </a:prstGeom>
          <a:noFill/>
        </p:spPr>
        <p:txBody>
          <a:bodyPr wrap="square" anchor="ctr">
            <a:spAutoFit/>
          </a:bodyPr>
          <a:lstStyle/>
          <a:p>
            <a:pPr algn="l">
              <a:spcAft>
                <a:spcPts val="500"/>
              </a:spcAft>
              <a:defRPr sz="2200" b="0">
                <a:solidFill>
                  <a:srgbClr val="2A303A"/>
                </a:solidFill>
                <a:latin typeface="Aptos"/>
              </a:defRPr>
            </a:pPr>
            <a:r>
              <a:t>To develop a simple and interactive Rock, Paper, Scissors game using Python.</a:t>
            </a:r>
          </a:p>
        </p:txBody>
      </p:sp>
      <p:sp>
        <p:nvSpPr>
          <p:cNvPr id="7" name="TextBox 6"/>
          <p:cNvSpPr txBox="1"/>
          <p:nvPr/>
        </p:nvSpPr>
        <p:spPr>
          <a:xfrm>
            <a:off x="822960" y="2971800"/>
            <a:ext cx="4846320" cy="411480"/>
          </a:xfrm>
          <a:prstGeom prst="rect">
            <a:avLst/>
          </a:prstGeom>
          <a:noFill/>
        </p:spPr>
        <p:txBody>
          <a:bodyPr wrap="square" anchor="ctr">
            <a:spAutoFit/>
          </a:bodyPr>
          <a:lstStyle/>
          <a:p>
            <a:pPr algn="l">
              <a:spcAft>
                <a:spcPts val="500"/>
              </a:spcAft>
              <a:defRPr sz="1700" b="1">
                <a:solidFill>
                  <a:srgbClr val="3F71BD"/>
                </a:solidFill>
                <a:latin typeface="Aptos"/>
              </a:defRPr>
            </a:pPr>
            <a:r>
              <a:t>SPECIFIC OBJECTIVES</a:t>
            </a:r>
          </a:p>
        </p:txBody>
      </p:sp>
      <p:sp>
        <p:nvSpPr>
          <p:cNvPr id="8" name="Rounded Rectangle 7"/>
          <p:cNvSpPr/>
          <p:nvPr/>
        </p:nvSpPr>
        <p:spPr>
          <a:xfrm>
            <a:off x="868680" y="3520440"/>
            <a:ext cx="10469880" cy="566928"/>
          </a:xfrm>
          <a:prstGeom prst="roundRect">
            <a:avLst/>
          </a:prstGeom>
          <a:solidFill>
            <a:srgbClr val="F4F7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3575304"/>
            <a:ext cx="9966960" cy="438912"/>
          </a:xfrm>
          <a:prstGeom prst="rect">
            <a:avLst/>
          </a:prstGeom>
          <a:noFill/>
        </p:spPr>
        <p:txBody>
          <a:bodyPr wrap="square" anchor="ctr">
            <a:spAutoFit/>
          </a:bodyPr>
          <a:lstStyle/>
          <a:p>
            <a:pPr algn="l">
              <a:spcAft>
                <a:spcPts val="500"/>
              </a:spcAft>
              <a:defRPr sz="1700" b="0">
                <a:solidFill>
                  <a:srgbClr val="2A303A"/>
                </a:solidFill>
                <a:latin typeface="Aptos"/>
              </a:defRPr>
            </a:pPr>
            <a:r>
              <a:t>1. To allow the player to choose rock, paper, or scissors.</a:t>
            </a:r>
          </a:p>
        </p:txBody>
      </p:sp>
      <p:sp>
        <p:nvSpPr>
          <p:cNvPr id="10" name="Rounded Rectangle 9"/>
          <p:cNvSpPr/>
          <p:nvPr/>
        </p:nvSpPr>
        <p:spPr>
          <a:xfrm>
            <a:off x="868680" y="4297680"/>
            <a:ext cx="10469880" cy="566928"/>
          </a:xfrm>
          <a:prstGeom prst="roundRect">
            <a:avLst/>
          </a:prstGeom>
          <a:solidFill>
            <a:srgbClr val="F4F7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4352544"/>
            <a:ext cx="9966960" cy="438912"/>
          </a:xfrm>
          <a:prstGeom prst="rect">
            <a:avLst/>
          </a:prstGeom>
          <a:noFill/>
        </p:spPr>
        <p:txBody>
          <a:bodyPr wrap="square" anchor="ctr">
            <a:spAutoFit/>
          </a:bodyPr>
          <a:lstStyle/>
          <a:p>
            <a:pPr algn="l">
              <a:spcAft>
                <a:spcPts val="500"/>
              </a:spcAft>
              <a:defRPr sz="1700" b="0">
                <a:solidFill>
                  <a:srgbClr val="2A303A"/>
                </a:solidFill>
                <a:latin typeface="Aptos"/>
              </a:defRPr>
            </a:pPr>
            <a:r>
              <a:t>2. To determine the winner by comparing the player's choice with the computer's random choice.</a:t>
            </a:r>
          </a:p>
        </p:txBody>
      </p:sp>
      <p:sp>
        <p:nvSpPr>
          <p:cNvPr id="12" name="Rounded Rectangle 11"/>
          <p:cNvSpPr/>
          <p:nvPr/>
        </p:nvSpPr>
        <p:spPr>
          <a:xfrm>
            <a:off x="868680" y="5074920"/>
            <a:ext cx="10469880" cy="566928"/>
          </a:xfrm>
          <a:prstGeom prst="roundRect">
            <a:avLst/>
          </a:prstGeom>
          <a:solidFill>
            <a:srgbClr val="F4F7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5129783"/>
            <a:ext cx="9966960" cy="438912"/>
          </a:xfrm>
          <a:prstGeom prst="rect">
            <a:avLst/>
          </a:prstGeom>
          <a:noFill/>
        </p:spPr>
        <p:txBody>
          <a:bodyPr wrap="square" anchor="ctr">
            <a:spAutoFit/>
          </a:bodyPr>
          <a:lstStyle/>
          <a:p>
            <a:pPr algn="l">
              <a:spcAft>
                <a:spcPts val="500"/>
              </a:spcAft>
              <a:defRPr sz="1700" b="0">
                <a:solidFill>
                  <a:srgbClr val="2A303A"/>
                </a:solidFill>
                <a:latin typeface="Aptos"/>
              </a:defRPr>
            </a:pPr>
            <a:r>
              <a:t>3. To apply basic Python concepts such as input, random selection, conditional statements, and loops.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11064240" cy="502920"/>
          </a:xfrm>
          <a:prstGeom prst="rect">
            <a:avLst/>
          </a:prstGeom>
          <a:noFill/>
        </p:spPr>
        <p:txBody>
          <a:bodyPr wrap="square" anchor="ctr">
            <a:spAutoFit/>
          </a:bodyPr>
          <a:lstStyle/>
          <a:p>
            <a:pPr algn="l">
              <a:defRPr sz="2800" b="1">
                <a:solidFill>
                  <a:srgbClr val="1A2D52"/>
                </a:solidFill>
                <a:latin typeface="Aptos"/>
              </a:defRPr>
            </a:pPr>
            <a:r>
              <a:t>FLOWCHART</a:t>
            </a:r>
          </a:p>
        </p:txBody>
      </p:sp>
      <p:sp>
        <p:nvSpPr>
          <p:cNvPr id="3" name="Rectangle 2"/>
          <p:cNvSpPr/>
          <p:nvPr/>
        </p:nvSpPr>
        <p:spPr>
          <a:xfrm>
            <a:off x="566928" y="804672"/>
            <a:ext cx="1234440" cy="64008"/>
          </a:xfrm>
          <a:prstGeom prst="rect">
            <a:avLst/>
          </a:prstGeom>
          <a:solidFill>
            <a:srgbClr val="3F71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896112"/>
            <a:ext cx="10972800" cy="292608"/>
          </a:xfrm>
          <a:prstGeom prst="rect">
            <a:avLst/>
          </a:prstGeom>
          <a:noFill/>
        </p:spPr>
        <p:txBody>
          <a:bodyPr wrap="square" anchor="ctr">
            <a:spAutoFit/>
          </a:bodyPr>
          <a:lstStyle/>
          <a:p>
            <a:pPr algn="l">
              <a:defRPr sz="1200" b="0">
                <a:solidFill>
                  <a:srgbClr val="586374"/>
                </a:solidFill>
                <a:latin typeface="Aptos"/>
              </a:defRPr>
            </a:pPr>
            <a:r>
              <a:t>Rock, Paper, and Scissors Game — program flow</a:t>
            </a:r>
          </a:p>
        </p:txBody>
      </p:sp>
      <p:sp>
        <p:nvSpPr>
          <p:cNvPr id="5" name="Terminator 4"/>
          <p:cNvSpPr/>
          <p:nvPr/>
        </p:nvSpPr>
        <p:spPr>
          <a:xfrm>
            <a:off x="4983480" y="1325880"/>
            <a:ext cx="1920240" cy="384048"/>
          </a:xfrm>
          <a:prstGeom prst="flowChartTerminator">
            <a:avLst/>
          </a:prstGeom>
          <a:solidFill>
            <a:srgbClr val="B9EFC7"/>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32A36"/>
                </a:solidFill>
                <a:latin typeface="Aptos"/>
              </a:defRPr>
            </a:pPr>
            <a:r>
              <a:t>START</a:t>
            </a:r>
          </a:p>
        </p:txBody>
      </p:sp>
      <p:sp>
        <p:nvSpPr>
          <p:cNvPr id="6" name="Process 5"/>
          <p:cNvSpPr/>
          <p:nvPr/>
        </p:nvSpPr>
        <p:spPr>
          <a:xfrm>
            <a:off x="4297680" y="1874519"/>
            <a:ext cx="3291840" cy="566928"/>
          </a:xfrm>
          <a:prstGeom prst="flowChartProcess">
            <a:avLst/>
          </a:prstGeom>
          <a:solidFill>
            <a:srgbClr val="DAEAFC"/>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232A36"/>
                </a:solidFill>
                <a:latin typeface="Aptos"/>
              </a:defRPr>
            </a:pPr>
            <a:r>
              <a:t>Import random module</a:t>
            </a:r>
            <a:br/>
            <a:r>
              <a:t>Display welcome message</a:t>
            </a:r>
          </a:p>
        </p:txBody>
      </p:sp>
      <p:sp>
        <p:nvSpPr>
          <p:cNvPr id="7" name="Decision 6"/>
          <p:cNvSpPr/>
          <p:nvPr/>
        </p:nvSpPr>
        <p:spPr>
          <a:xfrm>
            <a:off x="4983480" y="2697480"/>
            <a:ext cx="1920240" cy="713232"/>
          </a:xfrm>
          <a:prstGeom prst="flowChartDecision">
            <a:avLst/>
          </a:prstGeom>
          <a:solidFill>
            <a:srgbClr val="FFEFAB"/>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32A36"/>
                </a:solidFill>
                <a:latin typeface="Aptos"/>
              </a:defRPr>
            </a:pPr>
            <a:r>
              <a:t>Play again?</a:t>
            </a:r>
            <a:br/>
            <a:r>
              <a:t>(yes / no)</a:t>
            </a:r>
          </a:p>
        </p:txBody>
      </p:sp>
      <p:sp>
        <p:nvSpPr>
          <p:cNvPr id="8" name="Data 7"/>
          <p:cNvSpPr/>
          <p:nvPr/>
        </p:nvSpPr>
        <p:spPr>
          <a:xfrm>
            <a:off x="4069080" y="3657600"/>
            <a:ext cx="3749039" cy="566928"/>
          </a:xfrm>
          <a:prstGeom prst="flowChartInputOutput">
            <a:avLst/>
          </a:prstGeom>
          <a:solidFill>
            <a:srgbClr val="EBDEFA"/>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232A36"/>
                </a:solidFill>
                <a:latin typeface="Aptos"/>
              </a:defRPr>
            </a:pPr>
            <a:r>
              <a:t>Input: rock, paper, or scissors</a:t>
            </a:r>
          </a:p>
        </p:txBody>
      </p:sp>
      <p:sp>
        <p:nvSpPr>
          <p:cNvPr id="9" name="Decision 8"/>
          <p:cNvSpPr/>
          <p:nvPr/>
        </p:nvSpPr>
        <p:spPr>
          <a:xfrm>
            <a:off x="4983480" y="4480560"/>
            <a:ext cx="1920240" cy="713232"/>
          </a:xfrm>
          <a:prstGeom prst="flowChartDecision">
            <a:avLst/>
          </a:prstGeom>
          <a:solidFill>
            <a:srgbClr val="FFEFAB"/>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32A36"/>
                </a:solidFill>
                <a:latin typeface="Aptos"/>
              </a:defRPr>
            </a:pPr>
            <a:r>
              <a:t>Is the choice valid?</a:t>
            </a:r>
          </a:p>
        </p:txBody>
      </p:sp>
      <p:sp>
        <p:nvSpPr>
          <p:cNvPr id="10" name="Process 9"/>
          <p:cNvSpPr/>
          <p:nvPr/>
        </p:nvSpPr>
        <p:spPr>
          <a:xfrm>
            <a:off x="4069080" y="5440680"/>
            <a:ext cx="3749039" cy="530352"/>
          </a:xfrm>
          <a:prstGeom prst="flowChartProcess">
            <a:avLst/>
          </a:prstGeom>
          <a:solidFill>
            <a:srgbClr val="DAEAFC"/>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0">
                <a:solidFill>
                  <a:srgbClr val="232A36"/>
                </a:solidFill>
                <a:latin typeface="Aptos"/>
              </a:defRPr>
            </a:pPr>
            <a:r>
              <a:t>Computer randomly selects a choice</a:t>
            </a:r>
          </a:p>
        </p:txBody>
      </p:sp>
      <p:sp>
        <p:nvSpPr>
          <p:cNvPr id="11" name="Process 10"/>
          <p:cNvSpPr/>
          <p:nvPr/>
        </p:nvSpPr>
        <p:spPr>
          <a:xfrm>
            <a:off x="4069080" y="6172200"/>
            <a:ext cx="3749039" cy="475488"/>
          </a:xfrm>
          <a:prstGeom prst="flowChartProcess">
            <a:avLst/>
          </a:prstGeom>
          <a:solidFill>
            <a:srgbClr val="DAEAFC"/>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232A36"/>
                </a:solidFill>
                <a:latin typeface="Aptos"/>
              </a:defRPr>
            </a:pPr>
            <a:r>
              <a:t>Compare both choices</a:t>
            </a:r>
            <a:br/>
            <a:r>
              <a:t>Display win, lose, or tie</a:t>
            </a:r>
          </a:p>
        </p:txBody>
      </p:sp>
      <p:sp>
        <p:nvSpPr>
          <p:cNvPr id="12" name="Data 11"/>
          <p:cNvSpPr/>
          <p:nvPr/>
        </p:nvSpPr>
        <p:spPr>
          <a:xfrm>
            <a:off x="685800" y="4526280"/>
            <a:ext cx="2468880" cy="658368"/>
          </a:xfrm>
          <a:prstGeom prst="flowChartInputOutput">
            <a:avLst/>
          </a:prstGeom>
          <a:solidFill>
            <a:srgbClr val="EBDEFA"/>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232A36"/>
                </a:solidFill>
                <a:latin typeface="Aptos"/>
              </a:defRPr>
            </a:pPr>
            <a:r>
              <a:t>Display “Invalid choice”</a:t>
            </a:r>
            <a:br/>
            <a:r>
              <a:t>Ask player to try again</a:t>
            </a:r>
          </a:p>
        </p:txBody>
      </p:sp>
      <p:sp>
        <p:nvSpPr>
          <p:cNvPr id="13" name="Terminator 12"/>
          <p:cNvSpPr/>
          <p:nvPr/>
        </p:nvSpPr>
        <p:spPr>
          <a:xfrm>
            <a:off x="8869680" y="2816352"/>
            <a:ext cx="2286000" cy="566928"/>
          </a:xfrm>
          <a:prstGeom prst="flowChartTerminator">
            <a:avLst/>
          </a:prstGeom>
          <a:solidFill>
            <a:srgbClr val="B9EFC7"/>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232A36"/>
                </a:solidFill>
                <a:latin typeface="Aptos"/>
              </a:defRPr>
            </a:pPr>
            <a:r>
              <a:t>END</a:t>
            </a:r>
            <a:br/>
            <a:r>
              <a:t>Thank you for playing!</a:t>
            </a:r>
          </a:p>
        </p:txBody>
      </p:sp>
      <p:sp>
        <p:nvSpPr>
          <p:cNvPr id="14" name="Data 13"/>
          <p:cNvSpPr/>
          <p:nvPr/>
        </p:nvSpPr>
        <p:spPr>
          <a:xfrm>
            <a:off x="8732520" y="5715000"/>
            <a:ext cx="2560320" cy="566928"/>
          </a:xfrm>
          <a:prstGeom prst="flowChartInputOutput">
            <a:avLst/>
          </a:prstGeom>
          <a:solidFill>
            <a:srgbClr val="EBDEFA"/>
          </a:solidFill>
          <a:ln w="17780">
            <a:solidFill>
              <a:srgbClr val="1A2D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0">
                <a:solidFill>
                  <a:srgbClr val="232A36"/>
                </a:solidFill>
                <a:latin typeface="Aptos"/>
              </a:defRPr>
            </a:pPr>
            <a:r>
              <a:t>Return to “Play again?”</a:t>
            </a:r>
          </a:p>
        </p:txBody>
      </p:sp>
      <p:cxnSp>
        <p:nvCxnSpPr>
          <p:cNvPr id="15" name="Connector 14"/>
          <p:cNvCxnSpPr/>
          <p:nvPr/>
        </p:nvCxnSpPr>
        <p:spPr>
          <a:xfrm>
            <a:off x="5943600" y="1709928"/>
            <a:ext cx="0" cy="164591"/>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43600" y="2441448"/>
            <a:ext cx="0" cy="256032"/>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43600" y="3410712"/>
            <a:ext cx="0" cy="246888"/>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80760" y="3438144"/>
            <a:ext cx="457200" cy="219456"/>
          </a:xfrm>
          <a:prstGeom prst="rect">
            <a:avLst/>
          </a:prstGeom>
          <a:noFill/>
        </p:spPr>
        <p:txBody>
          <a:bodyPr wrap="square" anchor="ctr">
            <a:spAutoFit/>
          </a:bodyPr>
          <a:lstStyle/>
          <a:p>
            <a:pPr algn="ctr">
              <a:defRPr sz="1000" b="1">
                <a:solidFill>
                  <a:srgbClr val="586374"/>
                </a:solidFill>
                <a:latin typeface="Aptos"/>
              </a:defRPr>
            </a:pPr>
            <a:r>
              <a:t>YES</a:t>
            </a:r>
          </a:p>
        </p:txBody>
      </p:sp>
      <p:cxnSp>
        <p:nvCxnSpPr>
          <p:cNvPr id="19" name="Connector 18"/>
          <p:cNvCxnSpPr/>
          <p:nvPr/>
        </p:nvCxnSpPr>
        <p:spPr>
          <a:xfrm>
            <a:off x="5943600" y="4224528"/>
            <a:ext cx="0" cy="256032"/>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43600" y="5193792"/>
            <a:ext cx="0" cy="246888"/>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80760" y="5193792"/>
            <a:ext cx="457200" cy="219456"/>
          </a:xfrm>
          <a:prstGeom prst="rect">
            <a:avLst/>
          </a:prstGeom>
          <a:noFill/>
        </p:spPr>
        <p:txBody>
          <a:bodyPr wrap="square" anchor="ctr">
            <a:spAutoFit/>
          </a:bodyPr>
          <a:lstStyle/>
          <a:p>
            <a:pPr algn="ctr">
              <a:defRPr sz="1000" b="1">
                <a:solidFill>
                  <a:srgbClr val="586374"/>
                </a:solidFill>
                <a:latin typeface="Aptos"/>
              </a:defRPr>
            </a:pPr>
            <a:r>
              <a:t>YES</a:t>
            </a:r>
          </a:p>
        </p:txBody>
      </p:sp>
      <p:cxnSp>
        <p:nvCxnSpPr>
          <p:cNvPr id="22" name="Connector 21"/>
          <p:cNvCxnSpPr/>
          <p:nvPr/>
        </p:nvCxnSpPr>
        <p:spPr>
          <a:xfrm>
            <a:off x="5943600" y="5971032"/>
            <a:ext cx="0" cy="201168"/>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03720" y="3054096"/>
            <a:ext cx="1965960" cy="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26679" y="2779776"/>
            <a:ext cx="457200" cy="219456"/>
          </a:xfrm>
          <a:prstGeom prst="rect">
            <a:avLst/>
          </a:prstGeom>
          <a:noFill/>
        </p:spPr>
        <p:txBody>
          <a:bodyPr wrap="square" anchor="ctr">
            <a:spAutoFit/>
          </a:bodyPr>
          <a:lstStyle/>
          <a:p>
            <a:pPr algn="ctr">
              <a:defRPr sz="1000" b="1">
                <a:solidFill>
                  <a:srgbClr val="586374"/>
                </a:solidFill>
                <a:latin typeface="Aptos"/>
              </a:defRPr>
            </a:pPr>
            <a:r>
              <a:t>NO</a:t>
            </a:r>
          </a:p>
        </p:txBody>
      </p:sp>
      <p:cxnSp>
        <p:nvCxnSpPr>
          <p:cNvPr id="25" name="Connector 24"/>
          <p:cNvCxnSpPr/>
          <p:nvPr/>
        </p:nvCxnSpPr>
        <p:spPr>
          <a:xfrm flipH="1">
            <a:off x="3154680" y="4837176"/>
            <a:ext cx="1828800" cy="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977639" y="4562856"/>
            <a:ext cx="457200" cy="219456"/>
          </a:xfrm>
          <a:prstGeom prst="rect">
            <a:avLst/>
          </a:prstGeom>
          <a:noFill/>
        </p:spPr>
        <p:txBody>
          <a:bodyPr wrap="square" anchor="ctr">
            <a:spAutoFit/>
          </a:bodyPr>
          <a:lstStyle/>
          <a:p>
            <a:pPr algn="ctr">
              <a:defRPr sz="1000" b="1">
                <a:solidFill>
                  <a:srgbClr val="586374"/>
                </a:solidFill>
                <a:latin typeface="Aptos"/>
              </a:defRPr>
            </a:pPr>
            <a:r>
              <a:t>NO</a:t>
            </a:r>
          </a:p>
        </p:txBody>
      </p:sp>
      <p:cxnSp>
        <p:nvCxnSpPr>
          <p:cNvPr id="27" name="Connector 26"/>
          <p:cNvCxnSpPr/>
          <p:nvPr/>
        </p:nvCxnSpPr>
        <p:spPr>
          <a:xfrm flipV="1">
            <a:off x="1920240" y="3931920"/>
            <a:ext cx="0" cy="59436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920240" y="3931920"/>
            <a:ext cx="2148840" cy="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818120" y="6409944"/>
            <a:ext cx="502920" cy="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21040" y="2148840"/>
            <a:ext cx="0" cy="4261104"/>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7589520" y="2148840"/>
            <a:ext cx="731520" cy="0"/>
          </a:xfrm>
          <a:prstGeom prst="line">
            <a:avLst/>
          </a:prstGeom>
          <a:ln w="20320">
            <a:solidFill>
              <a:srgbClr val="586374"/>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66760" y="4297680"/>
            <a:ext cx="1600200" cy="320040"/>
          </a:xfrm>
          <a:prstGeom prst="rect">
            <a:avLst/>
          </a:prstGeom>
          <a:noFill/>
        </p:spPr>
        <p:txBody>
          <a:bodyPr wrap="square" anchor="ctr">
            <a:spAutoFit/>
          </a:bodyPr>
          <a:lstStyle/>
          <a:p>
            <a:pPr algn="ctr">
              <a:defRPr sz="1000" b="0">
                <a:solidFill>
                  <a:srgbClr val="586374"/>
                </a:solidFill>
                <a:latin typeface="Aptos"/>
              </a:defRPr>
            </a:pPr>
            <a:r>
              <a:t>After each round</a:t>
            </a:r>
          </a:p>
        </p:txBody>
      </p:sp>
      <p:sp>
        <p:nvSpPr>
          <p:cNvPr id="33" name="Rounded Rectangle 32"/>
          <p:cNvSpPr/>
          <p:nvPr/>
        </p:nvSpPr>
        <p:spPr>
          <a:xfrm>
            <a:off x="9235440" y="4572000"/>
            <a:ext cx="2240280" cy="868680"/>
          </a:xfrm>
          <a:prstGeom prst="roundRect">
            <a:avLst/>
          </a:prstGeom>
          <a:solidFill>
            <a:srgbClr val="F8FAFD"/>
          </a:solidFill>
          <a:ln>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372600" y="4617720"/>
            <a:ext cx="1965960" cy="201168"/>
          </a:xfrm>
          <a:prstGeom prst="rect">
            <a:avLst/>
          </a:prstGeom>
          <a:noFill/>
        </p:spPr>
        <p:txBody>
          <a:bodyPr wrap="square" anchor="ctr">
            <a:spAutoFit/>
          </a:bodyPr>
          <a:lstStyle/>
          <a:p>
            <a:pPr algn="l">
              <a:defRPr sz="900" b="1">
                <a:solidFill>
                  <a:srgbClr val="1A2D52"/>
                </a:solidFill>
                <a:latin typeface="Aptos"/>
              </a:defRPr>
            </a:pPr>
            <a:r>
              <a:t>LEGEND</a:t>
            </a:r>
          </a:p>
        </p:txBody>
      </p:sp>
      <p:sp>
        <p:nvSpPr>
          <p:cNvPr id="35" name="TextBox 34"/>
          <p:cNvSpPr txBox="1"/>
          <p:nvPr/>
        </p:nvSpPr>
        <p:spPr>
          <a:xfrm>
            <a:off x="9372600" y="4828032"/>
            <a:ext cx="1920240" cy="475488"/>
          </a:xfrm>
          <a:prstGeom prst="rect">
            <a:avLst/>
          </a:prstGeom>
          <a:noFill/>
        </p:spPr>
        <p:txBody>
          <a:bodyPr wrap="square" anchor="ctr">
            <a:spAutoFit/>
          </a:bodyPr>
          <a:lstStyle/>
          <a:p>
            <a:pPr algn="l">
              <a:defRPr sz="800" b="0">
                <a:solidFill>
                  <a:srgbClr val="232A36"/>
                </a:solidFill>
                <a:latin typeface="Aptos"/>
              </a:defRPr>
            </a:pPr>
            <a:r>
              <a:t>Green: Start / End     Yellow: Decision</a:t>
            </a:r>
            <a:br/>
            <a:r>
              <a:t>Purple: Input / Output     Blue: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763B4F-F4AB-7D82-2092-28599ABC0929}"/>
              </a:ext>
            </a:extLst>
          </p:cNvPr>
          <p:cNvPicPr>
            <a:picLocks noChangeAspect="1"/>
          </p:cNvPicPr>
          <p:nvPr/>
        </p:nvPicPr>
        <p:blipFill>
          <a:blip r:embed="rId2"/>
          <a:stretch>
            <a:fillRect/>
          </a:stretch>
        </p:blipFill>
        <p:spPr>
          <a:xfrm>
            <a:off x="2032000" y="1295812"/>
            <a:ext cx="8128000" cy="4626234"/>
          </a:xfrm>
          <a:prstGeom prst="rect">
            <a:avLst/>
          </a:prstGeom>
        </p:spPr>
      </p:pic>
      <p:sp>
        <p:nvSpPr>
          <p:cNvPr id="3" name="TextBox 2">
            <a:extLst>
              <a:ext uri="{FF2B5EF4-FFF2-40B4-BE49-F238E27FC236}">
                <a16:creationId xmlns:a16="http://schemas.microsoft.com/office/drawing/2014/main" id="{B59E3617-069E-C066-51DA-7827A7261046}"/>
              </a:ext>
            </a:extLst>
          </p:cNvPr>
          <p:cNvSpPr txBox="1"/>
          <p:nvPr/>
        </p:nvSpPr>
        <p:spPr>
          <a:xfrm>
            <a:off x="632991" y="412734"/>
            <a:ext cx="5628544" cy="707886"/>
          </a:xfrm>
          <a:prstGeom prst="rect">
            <a:avLst/>
          </a:prstGeom>
          <a:noFill/>
        </p:spPr>
        <p:txBody>
          <a:bodyPr wrap="square" rtlCol="0">
            <a:spAutoFit/>
          </a:bodyPr>
          <a:lstStyle/>
          <a:p>
            <a:pPr algn="l"/>
            <a:r>
              <a:rPr lang="en-US" sz="4000" b="1" dirty="0">
                <a:solidFill>
                  <a:schemeClr val="accent1"/>
                </a:solidFill>
                <a:latin typeface="Aharoni" panose="02000000000000000000" pitchFamily="2" charset="0"/>
                <a:ea typeface="Aharoni" panose="02000000000000000000" pitchFamily="2" charset="0"/>
              </a:rPr>
              <a:t>Source Code</a:t>
            </a:r>
          </a:p>
        </p:txBody>
      </p:sp>
    </p:spTree>
    <p:extLst>
      <p:ext uri="{BB962C8B-B14F-4D97-AF65-F5344CB8AC3E}">
        <p14:creationId xmlns:p14="http://schemas.microsoft.com/office/powerpoint/2010/main" val="2860976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John Mirben Sapeda</cp:lastModifiedBy>
  <cp:revision>5</cp:revision>
  <dcterms:created xsi:type="dcterms:W3CDTF">2013-01-27T09:14:16Z</dcterms:created>
  <dcterms:modified xsi:type="dcterms:W3CDTF">2026-10-19T12:10:04Z</dcterms:modified>
  <cp:category/>
</cp:coreProperties>
</file>